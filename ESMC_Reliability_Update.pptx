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Microsoft JhengHei"/>
              </a:rPr>
              <a:t>NEGATIVE DATASET REBUILD · 負樣本重建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Rebuilding the Non-AMP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DDDDD"/>
                </a:solidFill>
                <a:latin typeface="Microsoft JhengHei"/>
              </a:rPr>
              <a:t>重建非抗菌肽（負樣本）資料集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How better negative data fixed a problem that better models could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Microsoft JhengHei"/>
              </a:rPr>
              <a:t>更好的負樣本資料，解決了換模型也解決不了的問題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ADAM — Antimicrobial Peptide Database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The Problem With the Old Negative Set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舊負樣本資料集的問題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ADAM is a curated AMP database — ~99.5% of its rows are positives. It has no real non-AMP class of its own.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ADAM 是策展的抗菌肽資料庫——約 99.5% 的資料都是正樣本，本身沒有真正的非抗菌肽類別。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Old approach: fetch long proteins (20–800 aa), then cut random windows out of them to use as negatives.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舊做法：抓取長蛋白質（20–800 残基），再從中隨機截取片段當作負樣本。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Those fragments are artificial — arbitrary cut points, unnatural ends, not real biological peptides.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這些片段是人為的——切點隨機、頭尾不自然，並非真實存在的生物肽段。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Exclusion used only 5 UniProt keyword IDs — AMP families named only in the description slipped through.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排除條件僅使用 5 個 UniProt 關鍵字代碼——僅在描述中提及的抗菌肽家族會漏網。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The New Collection Query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新的負樣本收集條件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A2A2A"/>
                </a:solidFill>
                <a:latin typeface="Consolas"/>
              </a:rPr>
              <a:t>(reviewed:true)</a:t>
            </a:r>
          </a:p>
          <a:p>
            <a:r>
              <a:rPr sz="1500">
                <a:solidFill>
                  <a:srgbClr val="C93333"/>
                </a:solidFill>
                <a:latin typeface="Consolas"/>
              </a:rPr>
              <a:t>AND length:[5 TO 100]</a:t>
            </a:r>
          </a:p>
          <a:p>
            <a:r>
              <a:rPr sz="1500">
                <a:solidFill>
                  <a:srgbClr val="C93333"/>
                </a:solidFill>
                <a:latin typeface="Consolas"/>
              </a:rPr>
              <a:t>AND NOT (</a:t>
            </a:r>
          </a:p>
          <a:p>
            <a:r>
              <a:rPr sz="1500">
                <a:solidFill>
                  <a:srgbClr val="C93333"/>
                </a:solidFill>
                <a:latin typeface="Consolas"/>
              </a:rPr>
              <a:t>    antimicrobial OR antibacterial OR antifungal OR antiviral OR antibiotic</a:t>
            </a:r>
          </a:p>
          <a:p>
            <a:r>
              <a:rPr sz="1500">
                <a:solidFill>
                  <a:srgbClr val="C93333"/>
                </a:solidFill>
                <a:latin typeface="Consolas"/>
              </a:rPr>
              <a:t>    OR bacteriocin OR defensin OR cathelicidin OR lantibiotic</a:t>
            </a:r>
          </a:p>
          <a:p>
            <a:r>
              <a:rPr sz="1500">
                <a:solidFill>
                  <a:srgbClr val="C93333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length:[5 TO 100] fetches naturally short, real proteins — no artificial cutting needed.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length:[5 TO 100] 直接抓取天然短鏈的真實蛋白質——不需人為截斷。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9 free-text exclusion terms searched across all fields, not just the keyword tag.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9 個排除詞彙搜尋所有欄位，而非僅限於關鍵字標籤。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Result: 18,451 unique, genuinely non-antimicrobial peptide-length sequences.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結果：取得 18,451 條不重複、真正非抗菌的肽長度序列。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Retraining Results — All Models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重新訓練結果——全部模型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332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3017520"/>
                <a:gridCol w="2194560"/>
              </a:tblGrid>
              <a:tr h="53035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Before 之前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After 之後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Change 變化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—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+22 pts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88.1%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+6.3 pts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FLM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retraining 訓練中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~10 hrs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ESMC and HMM use Stratified 5-Fold cross-validation. ESMC: 93.62% ± 0.78%.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Microsoft JhengHei"/>
              </a:rPr>
              <a:t>ESMC 與 HMM 採用分層 5 摺交叉驗證。ESMC：93.62% ± 0.78%。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  <a:latin typeface="Calibri"/>
              </a:rPr>
              <a:t>Only the training data changed — no model architecture or feature changes were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  <a:latin typeface="Microsoft JhengHei"/>
              </a:rPr>
              <a:t>僅更換了訓練資料——未修改任何模型架構或特徵。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</a:rPr>
              <a:t>THE HEADLINE RESULT · 關鍵成果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The Insulin B Case — Finally Correct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胰島素 B 鏈案例——終於正確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600200"/>
          <a:ext cx="10149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468880"/>
                <a:gridCol w="2560320"/>
              </a:tblGrid>
              <a:tr h="4724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ESMC variant tried 嘗試的版本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Insulin B score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Result 結果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2,500 samples + 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6,000 + physicochemical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6,000 embedding-only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SVM (RBF) classifier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Same model + NEW negative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✓ CORRECT 正確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7091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Calibri"/>
              </a:rPr>
              <a:t>Four rounds of model changes never fixed it. Better negative data fixed it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1206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Microsoft JhengHei"/>
              </a:rPr>
              <a:t>四輪模型調整都無法解決；換上更好的負樣本資料後立即解決。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3333"/>
                </a:solidFill>
                <a:latin typeface="Calibri"/>
              </a:rPr>
              <a:t>Root cause was data quality — not the classifier, not the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0350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3333"/>
                </a:solidFill>
                <a:latin typeface="Microsoft JhengHei"/>
              </a:rPr>
              <a:t>根本原因是資料品質——而非分類器或特徵工程。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Verification on Known Test Peptides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已知測試肽段驗證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600200"/>
          <a:ext cx="9601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286000"/>
                <a:gridCol w="1645920"/>
              </a:tblGrid>
              <a:tr h="47548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Peptide 肽段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Expected 預期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ESMC score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Result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LL-37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0.9881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Magainin-2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0.9929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Insulin B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Non-AMP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0.1202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Glucagon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Non-AMP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0.0417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8016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Calibri"/>
              </a:rPr>
              <a:t>All four now correct — including both previously-failing negative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Microsoft JhengHei"/>
              </a:rPr>
              <a:t>四項全部正確——包含過去判斷錯誤的兩個陰性對照組。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Key Takeaways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重點總結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Negative-sample quality mattered more than model choice, feature engineering, or training set size.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負樣本的品質，比模型選擇、特徵工程或訓練集大小都更重要。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Real peptide-length proteins are far better negatives than fragments cut out of long proteins.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真實的短鏈蛋白質，遠比從長蛋白質截取的片段更適合作為負樣本。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A broad, text-wide exclusion list beats a narrow keyword-ID filter for removing contamination.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全欄位、廣泛的排除詞清單，比窄義的關鍵字過濾更能避免污染。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The problem was never hidden or hardcoded around — it was traced to its real source and fixed there.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我們從未隱蔽或寫死此問題——而是找出真正原因並從根本解決。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