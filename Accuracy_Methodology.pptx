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3333"/>
                </a:solidFill>
                <a:latin typeface="Microsoft JhengHei"/>
              </a:rPr>
              <a:t>METHODOLOGY · 準確度計算方法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How the Accuracy Figures Are Obtained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DDDDDD"/>
                </a:solidFill>
                <a:latin typeface="Microsoft JhengHei"/>
              </a:rPr>
              <a:t>準確度數字是如何得出的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AA"/>
                </a:solidFill>
                <a:latin typeface="Calibri"/>
              </a:rPr>
              <a:t>Every figure in this deck was recomputed from the training logs and cached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Microsoft JhengHei"/>
              </a:rPr>
              <a:t>本簡報中的每一項數字，皆由訓練紀錄與快取嵌入向量重新計算驗證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ADAM — Antimicrobial Peptide Database 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Step 1 — What the Accuracy Is Measured On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步驟一——準確度是在什麼資料上計算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80160" y="1554480"/>
          <a:ext cx="96011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200400"/>
                <a:gridCol w="2651760"/>
              </a:tblGrid>
              <a:tr h="5715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Class 類別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Source 來源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Count 數量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AMP (positive 正樣本)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Microsoft JhengHei"/>
                        </a:rPr>
                        <a:t>ADAM curated entries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25,990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Non-AMP (negative 負樣本)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Microsoft JhengHei"/>
                        </a:rPr>
                        <a:t>UniProt Swiss-Prot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18,451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Total 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44,441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1148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Labels are binary: 1 = antimicrobial, 0 = not antimicrobial. Accuracy is the share of sequences the model assigns to the correct class.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標籤為二元：1 = 抗菌肽，0 = 非抗菌肽。準確度即模型判斷正確的序列比例。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The classes are unbalanced (58% AMP / 42% Non-AMP), which is exactly why the split must preserve that ratio — see Step 2.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兩類別並不平衡（58% 對 42%），這正是分割資料時必須維持此比例的原因——見步驟二。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Step 2 — Stratified 5-Fold Cross-Validation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步驟二——分層五摺交叉驗證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A single train/test split gives one number that depends on which sequences happened to land in the test set.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單一切分只能得到一個數字，而這個數字取決於哪些序列恰好落在測試集。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The data is instead divided into 5 equal folds. The model trains on 4 and is tested on the 1 it has never seen; this repeats 5 times.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改將資料分為五等份，模型以四份訓練、在未見過的一份上測試，共重複五次。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"Stratified" means every fold keeps the same 58/42 class ratio as the whole dataset, so no fold is accidentally easier.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「分層」指每一摺都維持與全體相同的 58/42 類別比例，避免某一摺碰巧較簡單。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Every sequence is therefore used for validation exactly once, and never appears in training and testing at the same time.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因此每條序列恰好被驗證一次，且絕不同時出現於訓練與測試。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48056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A2A2A"/>
                </a:solidFill>
                <a:latin typeface="Consolas"/>
              </a:rPr>
              <a:t>ESMC embedding sample     N = 12,000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93333"/>
                </a:solidFill>
                <a:latin typeface="Consolas"/>
              </a:rPr>
              <a:t>per fold:  train = 12,000 x 4/5 = 9,600      validate = 12,000 x 1/5 = 2,400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Consolas"/>
              </a:rPr>
              <a:t>5 folds x 2,400 validated = 12,000  -&gt; every sample checked exactly once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1100" b="1">
                <a:solidFill>
                  <a:srgbClr val="E84545"/>
                </a:solidFill>
                <a:latin typeface="Microsoft JhengHei"/>
              </a:rPr>
              <a:t>ONE VALIDATION FOLD · 單一驗證摺</a:t>
            </a:r>
          </a:p>
          <a:p>
            <a:pPr algn="l"/>
            <a:r>
              <a:rPr sz="2300" b="1">
                <a:solidFill>
                  <a:srgbClr val="FFFFFF"/>
                </a:solidFill>
              </a:rPr>
              <a:t>Step 3 — Counting Correct and Incorrect Calls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步驟三——統計正確與錯誤的判斷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37360" y="1600200"/>
          <a:ext cx="8686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/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Predicted AMP 預測為 AMP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Predicted Non-AMP 預測為非 AMP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Actually AMP 實為 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TP = 1,348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FN = 55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Actually Non-AMP 實為非 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FP = 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TN = 901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737360" y="411480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6B6B6B"/>
                </a:solidFill>
                <a:latin typeface="Consolas"/>
              </a:rPr>
              <a:t>TP  true positives   - antimicrobial peptides correctly identified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6B6B6B"/>
                </a:solidFill>
                <a:latin typeface="Consolas"/>
              </a:rPr>
              <a:t>TN  true negatives   - non-antimicrobial peptides correctly rejected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93333"/>
                </a:solidFill>
                <a:latin typeface="Consolas"/>
              </a:rPr>
              <a:t>FP  false positives  - not antimicrobial, but predicted antimicrobial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93333"/>
                </a:solidFill>
                <a:latin typeface="Consolas"/>
              </a:rPr>
              <a:t>FN  false negatives  - antimicrobial, but missed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2A2A2A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A2A2A"/>
                </a:solidFill>
                <a:latin typeface="Consolas"/>
              </a:rPr>
              <a:t>total validated in this fold = 1,348 + 55 + 96 + 901 = 2,400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Step 4 — The Calculation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步驟四——實際計算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2A2A2A"/>
                </a:solidFill>
                <a:latin typeface="Consolas"/>
              </a:rPr>
              <a:t>Accuracy   = (TP + TN) / N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A2A2A"/>
                </a:solidFill>
                <a:latin typeface="Consolas"/>
              </a:rPr>
              <a:t>           = (1,348 + 901) / 2,400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2E7D32"/>
                </a:solidFill>
                <a:latin typeface="Consolas"/>
              </a:rPr>
              <a:t>           = 2,249 / 2,400   =  0.9371   =  93.71 %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A2A2A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A2A2A"/>
                </a:solidFill>
                <a:latin typeface="Consolas"/>
              </a:rPr>
              <a:t>Precision  = TP / (TP + FP)  =  1,348 / (1,348 + 96)   =  1,348 / 1,444  =  0.9335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6B6B6B"/>
                </a:solidFill>
                <a:latin typeface="Consolas"/>
              </a:rPr>
              <a:t>             of everything called AMP, 93.35 % really was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A2A2A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A2A2A"/>
                </a:solidFill>
                <a:latin typeface="Consolas"/>
              </a:rPr>
              <a:t>Recall     = TP / (TP + FN)  =  1,348 / (1,348 + 55)   =  1,348 / 1,403  =  0.9608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6B6B6B"/>
                </a:solidFill>
                <a:latin typeface="Consolas"/>
              </a:rPr>
              <a:t>             of all real AMPs present, 96.08 % were found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A2A2A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A2A2A"/>
                </a:solidFill>
                <a:latin typeface="Consolas"/>
              </a:rPr>
              <a:t>F1         = 2PR / (P + R)   =  2(0.9335)(0.9608) / (0.9335 + 0.9608)  =  0.9470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06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Microsoft JhengHei"/>
              </a:rPr>
              <a:t>驗證：sklearn 的 accuracy_score 回傳 0.9371，與手算結果完全一致。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Step 5 — Averaging the Five Folds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步驟五——平均五摺結果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08760"/>
          <a:ext cx="103327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4008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Model 模型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F1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F2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F3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F4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F5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Mean 平均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ESMC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93.92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94.67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94.29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94.21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94.87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94.39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FLM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95.28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95.56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95.83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95.08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95.25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95.40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70332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2E7D32"/>
                </a:solidFill>
                <a:latin typeface="Consolas"/>
              </a:rPr>
              <a:t>mean = (0.9392 + 0.9467 + 0.9429 + 0.9421 + 0.9487) / 5  =  0.9439  =  94.39 %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A2A2A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2A2A2A"/>
                </a:solidFill>
                <a:latin typeface="Consolas"/>
              </a:rPr>
              <a:t>std  = sqrt( SUM (x - mean)^2 / 5 )  =  0.0034  =  0.34 %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6B6B6B"/>
                </a:solidFill>
                <a:latin typeface="Consolas"/>
              </a:rPr>
              <a:t>       the spread between folds - small std means the result is not luck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A2A2A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2E7D32"/>
                </a:solidFill>
                <a:latin typeface="Consolas"/>
              </a:rPr>
              <a:t>FLM:   mean = 95.40 %     std = 0.26 %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Results — All Four Models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結果——四個模型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554480"/>
          <a:ext cx="9966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68880"/>
                <a:gridCol w="2194560"/>
                <a:gridCol w="3200400"/>
              </a:tblGrid>
              <a:tr h="512064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Model 模型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Accuracy 準確度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Std 標準差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Method 方法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FLM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95.40%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± 0.26%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Stratified 5-fold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ESMC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94.39%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± 0.34%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Stratified 5-fold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Microsoft JhengHei"/>
                        </a:rPr>
                        <a:t>Held-out split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HMM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Microsoft JhengHei"/>
                        </a:rPr>
                        <a:t>Held-out split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" y="44348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These weights also drive the Ensemble page: each model's vote is weighted by the accuracy measured here.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這些數字同時決定集成預測的權重：每個模型的投票依此處量測的準確度加權。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SVM and HMM use a single held-out split because their training is cheap but their ceiling is low — 20 composition features saturate quickly.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SVM 與 HMM 採單一保留集，因其訓練成本低但上限也低——僅 20 維組成特徵很快饱和。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1100" b="1">
                <a:solidFill>
                  <a:srgbClr val="E84545"/>
                </a:solidFill>
                <a:latin typeface="Microsoft JhengHei"/>
              </a:rPr>
              <a:t>HONEST REPORTING · 如實回報</a:t>
            </a:r>
          </a:p>
          <a:p>
            <a:pPr algn="l"/>
            <a:r>
              <a:rPr sz="2300" b="1">
                <a:solidFill>
                  <a:srgbClr val="FFFFFF"/>
                </a:solidFill>
              </a:rPr>
              <a:t>A Contamination We Found and Measured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我們發現並量測的一項污染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216 sequences (0.49% of unique sequences) appear in BOTH sets — recorded as antimicrobial in ADAM and also drawn into the UniProt negative set.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有 216 條序列（占獨特序列的 0.49%）同時出現於兩邊——在 ADAM 被記為抗菌肽，也被抓進 UniProt 負樣本。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The model is therefore shown the same sequence labelled both ways, which can only cost it accuracy.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模型因此會看到同一條序列被標為兩種類別，這只會拉低準確度。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11680" y="3886200"/>
          <a:ext cx="81381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2743200"/>
              </a:tblGrid>
              <a:tr h="48768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ESMC measurement 量測方式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Accuracy 準確度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As reported (contradictions kept) 保留矛盾樣本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94.39% ± 0.34%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Contradictions removed 移除矛盾樣本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94.92% ± 0.46%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11680" y="5577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2A2A"/>
                </a:solidFill>
                <a:latin typeface="Calibri"/>
              </a:rPr>
              <a:t>The reported figure is therefore conservative by about 0.5 points — it understates, not overstates.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2A2A"/>
                </a:solidFill>
                <a:latin typeface="Microsoft JhengHei"/>
              </a:rPr>
              <a:t>因此所報數字偏保守約 0.5 個百分點——是低估而非高估。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What These Numbers Do and Do Not Claim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這些數字代表與不代表什麼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They are averages over held-out data, so they describe expected behaviour on sequences resembling the training distribution.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這些是在未見資料上的平均值，描述的是面對類似訓練分布的序列時的預期表現。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They do not guarantee any individual prediction. A 94% model is wrong on roughly 1 sequence in 17.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它不保證任何單一預測。準確度 94% 的模型，平均每 17 條就有一條判斷錯誤。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Short peptides remain a known weak spot: the training data is roughly 11:1 AMP-biased in the 11–20 residue band.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短肽仍是已知弱點：在 11–20 殘基區間，訓練資料約為 11:1 偏向抗菌肽。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This is why the Ensemble page exists — four models voting cover each other's individual blind spots.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這正是集成預測存在的原因——四個模型互相投票，彌補彼此的盲點。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